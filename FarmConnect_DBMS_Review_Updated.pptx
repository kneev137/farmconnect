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Slide: Greet the panel and introduce the team (Amogh Dey - 24303, Athul Adithyan N - 24306, Kneev S Jain - 24364, Prakhar Goyal - 24366) presenting FarmConnect for 22AIE303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(~35s): Present the introduction and the exact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(~40s): Walk the faculty through the table showing each user feature and the DBMS concept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(~35s): Explain how the project is divided into 5 clean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(~35s): Share the measurable results: dropping 43 queries down to 1 query using database views, preventing overselling using row locks, and automating billing/stock sync via triggers.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(~30s): Present the advantages alongside honest limitations and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(~30s): Highlight the novelty: Harvest-linked inventory with live freshness badges and 90% direct farmer payout.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(~30s): Present the Sustainable Development Goals fulfilled by FarmConnect (SDG 2, SDG 8, SDG 9, SDG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(~30s): Share the 3 core database challenges we faced and solved, along with our key DBMS learnings.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(~25s): Wrap up with the budget: ₹0 development cost using open-source tools, ₹3,400/month for live cloud deployment, which breaks even at just 68 orders per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DCFCE7"/>
                </a:solidFill>
                <a:latin typeface="Calibri"/>
              </a:defRPr>
            </a:pPr>
            <a:r>
              <a:t>2 2 A I E 3 0 3</a:t>
            </a:r>
          </a:p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D a t a b a s e   M a n a g e m e n t   S y s t e m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7600" b="0">
                <a:solidFill>
                  <a:srgbClr val="FFFFFF"/>
                </a:solidFill>
                <a:latin typeface="Calibri"/>
              </a:defRPr>
            </a:pPr>
            <a:r>
              <a:t>FarmConnect</a:t>
            </a:r>
          </a:p>
          <a:p>
            <a:pPr>
              <a:defRPr sz="2200">
                <a:solidFill>
                  <a:srgbClr val="DCFCE7"/>
                </a:solidFill>
                <a:latin typeface="Calibri"/>
              </a:defRPr>
            </a:pPr>
            <a:r>
              <a:t>A direct farm-to-table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21808"/>
            <a:ext cx="10543032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681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Amogh Dey</a:t>
            </a:r>
          </a:p>
          <a:p>
            <a:pPr>
              <a:defRPr sz="1350">
                <a:solidFill>
                  <a:srgbClr val="DCFCE7"/>
                </a:solidFill>
                <a:latin typeface="Calibri"/>
              </a:defRPr>
            </a:pPr>
            <a:r>
              <a:t>24303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54681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Athul Adithyan N</a:t>
            </a:r>
          </a:p>
          <a:p>
            <a:pPr>
              <a:defRPr sz="1350">
                <a:solidFill>
                  <a:srgbClr val="DCFCE7"/>
                </a:solidFill>
                <a:latin typeface="Calibri"/>
              </a:defRPr>
            </a:pPr>
            <a:r>
              <a:t>24306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681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Kneev S Jain</a:t>
            </a:r>
          </a:p>
          <a:p>
            <a:pPr>
              <a:defRPr sz="1350">
                <a:solidFill>
                  <a:srgbClr val="DCFCE7"/>
                </a:solidFill>
                <a:latin typeface="Calibri"/>
              </a:defRPr>
            </a:pPr>
            <a:r>
              <a:t>24364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54681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Prakhar Goyal</a:t>
            </a:r>
          </a:p>
          <a:p>
            <a:pPr>
              <a:defRPr sz="1350">
                <a:solidFill>
                  <a:srgbClr val="DCFCE7"/>
                </a:solidFill>
                <a:latin typeface="Calibri"/>
              </a:defRPr>
            </a:pPr>
            <a:r>
              <a:t>24366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1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FarmConnect: Direct Farm-to-Table Marketplace &amp; Inventory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Project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5202936" cy="337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What is FarmConnect?: </a:t>
            </a:r>
            <a:r>
              <a:rPr sz="1250">
                <a:solidFill>
                  <a:srgbClr val="334155"/>
                </a:solidFill>
                <a:latin typeface="Calibri"/>
              </a:rPr>
              <a:t>An integrated, database-driven agricultural marketplace that connects local farmers directly with customers.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Fair Revenue Distribution: </a:t>
            </a:r>
            <a:r>
              <a:rPr sz="1250">
                <a:solidFill>
                  <a:srgbClr val="334155"/>
                </a:solidFill>
                <a:latin typeface="Calibri"/>
              </a:rPr>
              <a:t>Guarantees 90% of every purchase goes directly to the farmer, with a transparent 10% platform sustainability fee.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Freshness &amp; Traceability: </a:t>
            </a:r>
            <a:r>
              <a:rPr sz="1250">
                <a:solidFill>
                  <a:srgbClr val="334155"/>
                </a:solidFill>
                <a:latin typeface="Calibri"/>
              </a:rPr>
              <a:t>Tracks when produce was harvested so buyers know the exact farm, location, and freshness of their food.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Database-Centric Design: </a:t>
            </a:r>
            <a:r>
              <a:rPr sz="1250">
                <a:solidFill>
                  <a:srgbClr val="334155"/>
                </a:solidFill>
                <a:latin typeface="Calibri"/>
              </a:rPr>
              <a:t>Built on a normalized relational database (PostgreSQL) that automates stock management, billing, and order tracking.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Role-Based Platform: </a:t>
            </a:r>
            <a:r>
              <a:rPr sz="1250">
                <a:solidFill>
                  <a:srgbClr val="334155"/>
                </a:solidFill>
                <a:latin typeface="Calibri"/>
              </a:rPr>
              <a:t>Provides dedicated workflows for Farmers (managing farms, harvests, orders) and Customers (browsing, cart, checkout).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5230368" cy="337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Traditional agricultural markets face several challenges: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Farmers depend on intermediaries, reducing their profits.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Customers have limited access to fresh products directly from farmers.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Manual record keeping leads to data inconsistency and inefficiency.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Tracking orders, deliveries, and complaints is difficult.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There is no centralized system to manage farm products and customer interactions.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FarmConnect addresses these issues by providing an integrated database-driven platform that connects farmers and customers while streamlining agricultural commerce.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413248"/>
            <a:ext cx="11365992" cy="1078992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4532D"/>
                </a:solidFill>
              </a:defRPr>
            </a:pPr>
            <a:r>
              <a:t>Core Solution: FarmConnect provides an integrated, centralized database platform that connects farmers and customers directly while automating inventory, orders, and deliveries.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Functionalities &amp; Associated DBMS Concepts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How core platform features map to relational database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1136599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108960"/>
                <a:gridCol w="4965192"/>
              </a:tblGrid>
              <a:tr h="5943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Functionality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DBMS Concept Used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 Conceptually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User Accounts &amp; Multiple Saved Addresses</a:t>
                      </a:r>
                      <a:br/>
                      <a:r>
                        <a:t>(Home, Work, Other)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Schema Normalization (BCNF),</a:t>
                      </a:r>
                      <a:br/>
                      <a:r>
                        <a:t>Foreign Keys &amp; Stored Procedures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Separates user profiles from addresses in a 1-to-Many relationship; a stored procedure switches the default address atomically.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 Management &amp; Fractional Produce</a:t>
                      </a:r>
                      <a:br/>
                      <a:r>
                        <a:t>(e.g., 0.25 kg, 1.5 kg, product photos)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3NF/BCNF Decomposition,</a:t>
                      </a:r>
                      <a:br/>
                      <a:r>
                        <a:t>Fixed-Point Decimal &amp; Check Constraints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Normalizes cities and categories into lookup tables; enforces positive prices and exact decimal weights without rounding errors.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Daily Harvest Logging &amp; Stock 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Database Triggers &amp;</a:t>
                      </a:r>
                      <a:br/>
                      <a:r>
                        <a:t>Stored Procedures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Whenever a farmer logs a new harvest, an automatic database trigger immediately adds the harvested quantity to available stock.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Customer Checkout &amp; Stock Deduction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ACID Transactions &amp;</a:t>
                      </a:r>
                      <a:br/>
                      <a:r>
                        <a:t>Row-Level Concurrency Locking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Locks the selected produce rows during checkout so two buyers cannot purchase the last kilogram at the same time.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Automatic Billing &amp; Payment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Cascading Database Triggers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Adding or updating order items automatically recalculates the order total and synchronizes the linked payment amount.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Delivery Tracking &amp; Order Audit History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Event Triggers &amp;</a:t>
                      </a:r>
                      <a:br/>
                      <a:r>
                        <a:t>Immutable Audit Logging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Updating delivery status automatically updates the main order status and records a timestamped entry in the audit history table.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Order Cancellation &amp; Stock Restoration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Compensating 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Cancelling a pending order automatically restores the deducted stock back to farm inventory and marks payment for refund.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Marketplace Search &amp; Farmer Analytics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Database Views, Aggregations &amp;</a:t>
                      </a:r>
                      <a:br/>
                      <a:r>
                        <a:t>B-Tree / Partial Indexing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Pre-joins product, farm, rating, and freshness data into virtual views and indexes low-stock items for fast dashboard loading.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Modules &amp; Explanations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Five integrated modules organized across 14 normalized relational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657600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1. User &amp; Address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46504"/>
            <a:ext cx="3328416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Role Management: </a:t>
            </a:r>
            <a:r>
              <a:rPr sz="1250">
                <a:solidFill>
                  <a:srgbClr val="334155"/>
                </a:solidFill>
                <a:latin typeface="Calibri"/>
              </a:rPr>
              <a:t>Supports Consumer and Farmer accounts with secure authentication.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Address Book: </a:t>
            </a:r>
            <a:r>
              <a:rPr sz="1250">
                <a:solidFill>
                  <a:srgbClr val="334155"/>
                </a:solidFill>
                <a:latin typeface="Calibri"/>
              </a:rPr>
              <a:t>Allows users to save multiple delivery locations (Home, Office, Other).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Default Selection: </a:t>
            </a:r>
            <a:r>
              <a:rPr sz="1250">
                <a:solidFill>
                  <a:srgbClr val="334155"/>
                </a:solidFill>
                <a:latin typeface="Calibri"/>
              </a:rPr>
              <a:t>Ensures only one address is marked as default per user at any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65760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2. Farmer &amp; Farm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746504"/>
            <a:ext cx="3328416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Farm Profiles: </a:t>
            </a:r>
            <a:r>
              <a:rPr sz="1250">
                <a:solidFill>
                  <a:srgbClr val="334155"/>
                </a:solidFill>
                <a:latin typeface="Calibri"/>
              </a:rPr>
              <a:t>Stores farmer stories, verification status, and individual farm details.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Normalized Geography: </a:t>
            </a:r>
            <a:r>
              <a:rPr sz="1250">
                <a:solidFill>
                  <a:srgbClr val="334155"/>
                </a:solidFill>
                <a:latin typeface="Calibri"/>
              </a:rPr>
              <a:t>Links farms to a dedicated City &amp; State directory to avoid duplicate text.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Data Isolation: </a:t>
            </a:r>
            <a:r>
              <a:rPr sz="1250">
                <a:solidFill>
                  <a:srgbClr val="334155"/>
                </a:solidFill>
                <a:latin typeface="Calibri"/>
              </a:rPr>
              <a:t>Ensures each farmer only views and manages their own farms and stock.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68503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68503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3. Catalog &amp; Harvest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746504"/>
            <a:ext cx="3355848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Produce Listings: </a:t>
            </a:r>
            <a:r>
              <a:rPr sz="1250">
                <a:solidFill>
                  <a:srgbClr val="334155"/>
                </a:solidFill>
                <a:latin typeface="Calibri"/>
              </a:rPr>
              <a:t>Manages product categories, unit prices, photos, and fractional quantities.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Harvest Records: </a:t>
            </a:r>
            <a:r>
              <a:rPr sz="1250">
                <a:solidFill>
                  <a:srgbClr val="334155"/>
                </a:solidFill>
                <a:latin typeface="Calibri"/>
              </a:rPr>
              <a:t>Logs daily farm harvests and automatically increments live inventory.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Freshness Tracking: </a:t>
            </a:r>
            <a:r>
              <a:rPr sz="1250">
                <a:solidFill>
                  <a:srgbClr val="334155"/>
                </a:solidFill>
                <a:latin typeface="Calibri"/>
              </a:rPr>
              <a:t>Calculates how many days ago each item was harvested for buyers.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977639"/>
            <a:ext cx="658368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3977639"/>
            <a:ext cx="658368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4. Cart, Order, Payment &amp; Delivery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489704"/>
            <a:ext cx="6254496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Shopping Cart: </a:t>
            </a:r>
            <a:r>
              <a:rPr sz="1250">
                <a:solidFill>
                  <a:srgbClr val="334155"/>
                </a:solidFill>
                <a:latin typeface="Calibri"/>
              </a:rPr>
              <a:t>Maintains active cart items per consumer and prevents duplicate product entries.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Order Processing: </a:t>
            </a:r>
            <a:r>
              <a:rPr sz="1250">
                <a:solidFill>
                  <a:srgbClr val="334155"/>
                </a:solidFill>
                <a:latin typeface="Calibri"/>
              </a:rPr>
              <a:t>Verifies stock, locks inventory, captures historical purchase prices, and generates invoices.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Delivery &amp; Audit Trail: </a:t>
            </a:r>
            <a:r>
              <a:rPr sz="1250">
                <a:solidFill>
                  <a:srgbClr val="334155"/>
                </a:solidFill>
                <a:latin typeface="Calibri"/>
              </a:rPr>
              <a:t>Tracks preparation, dispatch, and delivery while logging every status change with timestamps.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977639"/>
            <a:ext cx="459943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78040" y="3977639"/>
            <a:ext cx="459943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5. Reviews &amp; Analytics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4489704"/>
            <a:ext cx="4270248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Verified Ratings: </a:t>
            </a:r>
            <a:r>
              <a:rPr sz="1250">
                <a:solidFill>
                  <a:srgbClr val="334155"/>
                </a:solidFill>
                <a:latin typeface="Calibri"/>
              </a:rPr>
              <a:t>Enforces one review (1 to 5 stars) per consumer for each product.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Farmer Analytics: </a:t>
            </a:r>
            <a:r>
              <a:rPr sz="1250">
                <a:solidFill>
                  <a:srgbClr val="334155"/>
                </a:solidFill>
                <a:latin typeface="Calibri"/>
              </a:rPr>
              <a:t>Computes gross sales, 90% farmer earnings, active orders, and low-stock alerts.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Catalog Views: </a:t>
            </a:r>
            <a:r>
              <a:rPr sz="1250">
                <a:solidFill>
                  <a:srgbClr val="334155"/>
                </a:solidFill>
                <a:latin typeface="Calibri"/>
              </a:rPr>
              <a:t>Combines product, farm, stock, and rating data for instant browsing.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Results &amp; Discussions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Performance improvements and data reliability achieved through DBMS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6599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834640"/>
                <a:gridCol w="3291840"/>
                <a:gridCol w="2679192"/>
              </a:tblGrid>
              <a:tr h="624839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Area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DBMS Optimization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Our DBMS Architecture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 &amp; Impact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Marketplace Catalog Loading</a:t>
                      </a:r>
                      <a:br/>
                      <a:r>
                        <a:t>(20 Products with Stock &amp; Ratings)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43 separate database queries</a:t>
                      </a:r>
                      <a:br/>
                      <a:r>
                        <a:t>per page load (N+1 issue)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 pre-joined Database View query</a:t>
                      </a:r>
                      <a:br/>
                      <a:r>
                        <a:t>fetches all catalog details at once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97.6% reduction in queries;</a:t>
                      </a:r>
                      <a:br/>
                      <a:r>
                        <a:t>instant page rendering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Simultaneous Customer Checkouts</a:t>
                      </a:r>
                      <a:br/>
                      <a:r>
                        <a:t>on Limited Stock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Race conditions allow two users</a:t>
                      </a:r>
                      <a:br/>
                      <a:r>
                        <a:t>to buy the same last item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Row-level locking serializes</a:t>
                      </a:r>
                      <a:br/>
                      <a:r>
                        <a:t>competing checkout transactions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Zero overselling;</a:t>
                      </a:r>
                      <a:br/>
                      <a:r>
                        <a:t>100% accurate inventory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Low-Stock Alerts on</a:t>
                      </a:r>
                      <a:br/>
                      <a:r>
                        <a:t>Farmer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Scans the entire inventory table</a:t>
                      </a:r>
                      <a:br/>
                      <a:r>
                        <a:t>to find scarce 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Uses a Partial B-Tree Index</a:t>
                      </a:r>
                      <a:br/>
                      <a:r>
                        <a:t>that only indexes low-stock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Instant dashboard alerts</a:t>
                      </a:r>
                      <a:br/>
                      <a:r>
                        <a:t>even as catalog grows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Order Total, Payment &amp;</a:t>
                      </a:r>
                      <a:br/>
                      <a:r>
                        <a:t>Delivery Synchronization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Requires multiple manual updates</a:t>
                      </a:r>
                      <a:br/>
                      <a:r>
                        <a:t>in application code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Handled automatically by</a:t>
                      </a:r>
                      <a:br/>
                      <a:r>
                        <a:t>chained database triggers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Zero billing mismatches;</a:t>
                      </a:r>
                      <a:br/>
                      <a:r>
                        <a:t>complete audit trail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Decimal Quantity Support</a:t>
                      </a:r>
                      <a:br/>
                      <a:r>
                        <a:t>(e.g., 1.5 kg, 0.25 kg)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Whole numbers only or</a:t>
                      </a:r>
                      <a:br/>
                      <a:r>
                        <a:t>floating-point rounding 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Fixed-precision decimal storage</a:t>
                      </a:r>
                      <a:br/>
                      <a:r>
                        <a:t>across carts, orders, and stock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Accurate gram-level</a:t>
                      </a:r>
                      <a:br/>
                      <a:r>
                        <a:t>pricing and stock deduction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20640"/>
            <a:ext cx="11365992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512064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Discussion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632704"/>
            <a:ext cx="1103680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Why Database-Level Logic Matters: </a:t>
            </a:r>
            <a:r>
              <a:rPr sz="1250">
                <a:solidFill>
                  <a:srgbClr val="334155"/>
                </a:solidFill>
                <a:latin typeface="Calibri"/>
              </a:rPr>
              <a:t>By handling stock synchronization, total calculation, and checkout locking inside PostgreSQL rather than only in the frontend/backend app, data remains consistent even under heavy traffic.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Verified Reliability: </a:t>
            </a:r>
            <a:r>
              <a:rPr sz="1250">
                <a:solidFill>
                  <a:srgbClr val="334155"/>
                </a:solidFill>
                <a:latin typeface="Calibri"/>
              </a:rPr>
              <a:t>All database rules, triggers, procedures, and views were validated against automated test cases and live multi-user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Advantages &amp; Limitations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Strengths of the current system and areas for future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Key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5202936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Strong Data Integrity: </a:t>
            </a:r>
            <a:r>
              <a:rPr sz="1250">
                <a:solidFill>
                  <a:srgbClr val="334155"/>
                </a:solidFill>
                <a:latin typeface="Calibri"/>
              </a:rPr>
              <a:t>Database constraints strictly prevent negative stock, invalid zero/negative prices, duplicate cart items, and out-of-range ratings.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Complete Revenue Transparency: </a:t>
            </a:r>
            <a:r>
              <a:rPr sz="1250">
                <a:solidFill>
                  <a:srgbClr val="334155"/>
                </a:solidFill>
                <a:latin typeface="Calibri"/>
              </a:rPr>
              <a:t>Farmers and consumers clearly see the 90% farmer payout and 10% platform fee on every product and order.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Automated Inventory &amp; Accounting: </a:t>
            </a:r>
            <a:r>
              <a:rPr sz="1250">
                <a:solidFill>
                  <a:srgbClr val="334155"/>
                </a:solidFill>
                <a:latin typeface="Calibri"/>
              </a:rPr>
              <a:t>Triggers eliminate human error by automatically updating stock on harvest and recalculating order and payment totals.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Flexible Fractional Purchasing: </a:t>
            </a:r>
            <a:r>
              <a:rPr sz="1250">
                <a:solidFill>
                  <a:srgbClr val="334155"/>
                </a:solidFill>
                <a:latin typeface="Calibri"/>
              </a:rPr>
              <a:t>Customers can type exact decimal weights (like 1.5 kg or 0.25 kg) just like buying fresh produce in person.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Convenient Multi-Address Checkout: </a:t>
            </a:r>
            <a:r>
              <a:rPr sz="1250">
                <a:solidFill>
                  <a:srgbClr val="334155"/>
                </a:solidFill>
                <a:latin typeface="Calibri"/>
              </a:rPr>
              <a:t>Users can save and switch between Home, Work, and Other addresses with one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Current Limitations &amp; 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5230368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Single-Server Lock Waiting: </a:t>
            </a:r>
            <a:r>
              <a:rPr sz="1250">
                <a:solidFill>
                  <a:srgbClr val="334155"/>
                </a:solidFill>
                <a:latin typeface="Calibri"/>
              </a:rPr>
              <a:t>During massive flash sales on a single product, row-level locking queues buyers sequentially; large-scale deployment would add distributed caching.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Local Image Storage: </a:t>
            </a:r>
            <a:r>
              <a:rPr sz="1250">
                <a:solidFill>
                  <a:srgbClr val="334155"/>
                </a:solidFill>
                <a:latin typeface="Calibri"/>
              </a:rPr>
              <a:t>Product and farm photos are stored on the local server rather than a cloud content delivery network (CDN).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Simulated Payment Processing: </a:t>
            </a:r>
            <a:r>
              <a:rPr sz="1250">
                <a:solidFill>
                  <a:srgbClr val="334155"/>
                </a:solidFill>
                <a:latin typeface="Calibri"/>
              </a:rPr>
              <a:t>Supports Cash on Delivery, UPI, and Card workflows in the database, but is not yet connected to a live banking gateway.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Manual Delivery Updates: </a:t>
            </a:r>
            <a:r>
              <a:rPr sz="1250">
                <a:solidFill>
                  <a:srgbClr val="334155"/>
                </a:solidFill>
                <a:latin typeface="Calibri"/>
              </a:rPr>
              <a:t>Delivery status is updated by the farmer rather than automated live GPS courier tracking.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Future Scope: </a:t>
            </a:r>
            <a:r>
              <a:rPr sz="1250">
                <a:solidFill>
                  <a:srgbClr val="334155"/>
                </a:solidFill>
                <a:latin typeface="Calibri"/>
              </a:rPr>
              <a:t>Integrate geographic radius search (PostGIS) to recommend farms closest to the customer's pincode.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Highlights &amp; Impact Study (Novelty &amp; Comparison)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What makes FarmConnect unique compared to traditional markets and quick-commerce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659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Novelty &amp; Direct Impact of FarmConnect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46504"/>
            <a:ext cx="1103680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Harvest-to-Inventory Pipeline: </a:t>
            </a:r>
            <a:r>
              <a:rPr sz="1250">
                <a:solidFill>
                  <a:srgbClr val="334155"/>
                </a:solidFill>
                <a:latin typeface="Calibri"/>
              </a:rPr>
              <a:t>Unlike standard e-commerce where stock is just a number, FarmConnect links stock directly to dated farm harvests and displays live freshness badges ('Harvested today', 'Harvested 2 days ago').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Economic Impact for Farmers: </a:t>
            </a:r>
            <a:r>
              <a:rPr sz="1250">
                <a:solidFill>
                  <a:srgbClr val="334155"/>
                </a:solidFill>
                <a:latin typeface="Calibri"/>
              </a:rPr>
              <a:t>Increases farmer income from the traditional 25–35% mandi share to a guaranteed 90% direct payout while giving households fresher, traceable produce.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3246120"/>
          <a:ext cx="1136599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3017520"/>
                <a:gridCol w="3044952"/>
              </a:tblGrid>
              <a:tr h="5410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Comparison Feature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Mandi System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Quick-Commerce Apps (Blinkit / Zepto)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FarmConnect (Our Platform)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Farmer's Share of Final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25% – 35% (4–5 middlemen)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40% – 55% (Warehouse &amp; retail cuts)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90% Direct to Farmer (10% fee)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 &amp; Farmer Traceability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(Mixed wholesale lots)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Hidden behind store brand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Farm, Farmer &amp; City Visibility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Produce Freshness Info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Unknown harvest 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Only packaging date shown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Live 'Days Since Harvest' Badge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Custom Fractional Quantities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Bulk wholesale sacks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Fixed pre-packed pouches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Typable Decimal Weights (e.g., 1.5 kg)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Inventory &amp; Billing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paper ledgers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Centralized dark-store ERP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Normalized DB with Auto-Triggers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Highlights — Sustainable Development Goals (SDGs)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Aligning FarmConnect with United Nations Sustainable Development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SDG 2 – Zero Hunger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520293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Improves access to fresh agricultural produce.</a:t>
            </a:r>
          </a:p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Reduces food wastage through efficient product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SDG 8 – Decent Work and Economic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523036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Enables farmers to earn better profits by reducing dependence on intermediaries.</a:t>
            </a:r>
          </a:p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Supports local agricultural businesses through digital commerce.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977639"/>
            <a:ext cx="553212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3977639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SDG 9 – Industry, Innovation and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489704"/>
            <a:ext cx="520293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Encourages digital transformation in agriculture.</a:t>
            </a:r>
          </a:p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Provides an innovative platform for managing agricultural trade.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559552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3977639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SDG 12 – Responsible Consumption and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489704"/>
            <a:ext cx="523036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Promotes direct farm-to-consumer sales.</a:t>
            </a:r>
          </a:p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Enhances transparency and minimizes supply chain inefficiencies.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Challenges Faced &amp; Key Learnings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Practical database design problems solved during project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Challenges Faced &amp; How We Solved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5202936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Calibri"/>
              </a:rPr>
              <a:t>• 1. Supporting Fractional Weights (e.g., 1.5 kg): </a:t>
            </a:r>
            <a:r>
              <a:rPr sz="1300">
                <a:solidFill>
                  <a:srgbClr val="334155"/>
                </a:solidFill>
                <a:latin typeface="Calibri"/>
              </a:rPr>
              <a:t>Changing quantities from whole numbers to decimals initially conflicted with active database views. We solved this by safely rebuilding the views around fixed-precision decimal columns.</a:t>
            </a:r>
          </a:p>
          <a:p>
            <a:pPr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Calibri"/>
              </a:rPr>
              <a:t>• 2. Coordinating Triggers &amp; Stored Procedures: </a:t>
            </a:r>
            <a:r>
              <a:rPr sz="1300">
                <a:solidFill>
                  <a:srgbClr val="334155"/>
                </a:solidFill>
                <a:latin typeface="Calibri"/>
              </a:rPr>
              <a:t>When restocking a brand-new product, the harvest trigger needed an existing inventory record to update. We sequenced the procedure to initialize inventory first before logging the harvest.</a:t>
            </a:r>
          </a:p>
          <a:p>
            <a:pPr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Calibri"/>
              </a:rPr>
              <a:t>• 3. Preventing Duplicate History Logs: </a:t>
            </a:r>
            <a:r>
              <a:rPr sz="1300">
                <a:solidFill>
                  <a:srgbClr val="334155"/>
                </a:solidFill>
                <a:latin typeface="Calibri"/>
              </a:rPr>
              <a:t>When updating order status via both procedures and triggers, we added a time-window check so status changes are never logged twice.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Key DBMS Learnings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5230368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Practical Schema Normalization (BCNF): </a:t>
            </a:r>
            <a:r>
              <a:rPr sz="1250">
                <a:solidFill>
                  <a:srgbClr val="334155"/>
                </a:solidFill>
                <a:latin typeface="Calibri"/>
              </a:rPr>
              <a:t>Learned how separating repeating data (cities, categories, multiple addresses) prevents data anomalies and keeps tables clean.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Choosing Between Triggers, Procedures &amp; Functions: </a:t>
            </a:r>
            <a:r>
              <a:rPr sz="1250">
                <a:solidFill>
                  <a:srgbClr val="334155"/>
                </a:solidFill>
                <a:latin typeface="Calibri"/>
              </a:rPr>
              <a:t>Learned when to use automatic Triggers (stock &amp; total sync), Functions (atomic checkout &amp; analytics), and Procedures (administrative tasks).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Handling Concurrent Users Safely: </a:t>
            </a:r>
            <a:r>
              <a:rPr sz="1250">
                <a:solidFill>
                  <a:srgbClr val="334155"/>
                </a:solidFill>
                <a:latin typeface="Calibri"/>
              </a:rPr>
              <a:t>Understood how database transactions and row locking prevent two customers from buying the same last item simultaneously.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Query Optimization with Views &amp; Indexes: </a:t>
            </a:r>
            <a:r>
              <a:rPr sz="1250">
                <a:solidFill>
                  <a:srgbClr val="334155"/>
                </a:solidFill>
                <a:latin typeface="Calibri"/>
              </a:rPr>
              <a:t>Experienced firsthand how pre-joined Views and targeted B-Tree Indexes turn 40+ slow queries into a single fast query.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9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Budgeting &amp; Financial Viability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Development cost and estimated cloud deployment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6599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2194560"/>
                <a:gridCol w="2587752"/>
              </a:tblGrid>
              <a:tr h="5421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Budget Category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Tools / Cloud Service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Development Cost (Current)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 Cost (1,000 Users)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Database Management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PostgreSQL 16 (Local) -&gt; Managed Cloud PostgreSQL</a:t>
                      </a:r>
                      <a:br/>
                      <a:r>
                        <a:t>with Automated Daily Backups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₹1,600 / month</a:t>
                      </a:r>
                      <a:br/>
                      <a:r>
                        <a:t>(₹19,200 / year)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Backend Application Hosting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&amp; Django REST Server -&gt;</a:t>
                      </a:r>
                      <a:br/>
                      <a:r>
                        <a:t>Cloud Web Instance (1 vCPU, 2 GB RAM)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₹1,200 / month</a:t>
                      </a:r>
                      <a:br/>
                      <a:r>
                        <a:t>(₹14,400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Frontend &amp; Image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React Web App + Cloud Object Storage</a:t>
                      </a:r>
                      <a:br/>
                      <a:r>
                        <a:t>for Product &amp; Farm Photos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(Free Tier)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₹500 / month</a:t>
                      </a:r>
                      <a:br/>
                      <a:r>
                        <a:t>(₹6,000 / year)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Domain Name &amp; SSL Security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Custom .in Domain + HTTPS Security Certificate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(Localhost)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₹100 / month</a:t>
                      </a:r>
                      <a:br/>
                      <a:r>
                        <a:t>(₹1,200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Development &amp; DB 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VS Code, GitHub, pgAdmin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TOTAL ESTIMATED COST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Complete Full-Stack System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(100% Free)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₹3,400 / month</a:t>
                      </a:r>
                      <a:br/>
                      <a:r>
                        <a:t>(₹40,800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66360"/>
            <a:ext cx="11365992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516636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Financial Sustainability &amp; Break-Even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678424"/>
            <a:ext cx="1103680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Zero Software Licensing Cost: </a:t>
            </a:r>
            <a:r>
              <a:rPr sz="1250">
                <a:solidFill>
                  <a:srgbClr val="334155"/>
                </a:solidFill>
                <a:latin typeface="Calibri"/>
              </a:rPr>
              <a:t>Built entirely on open-source technologies (PostgreSQL, Python, Django, React), eliminating expensive commercial database licenses.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Self-Sustaining at Small Scale: </a:t>
            </a:r>
            <a:r>
              <a:rPr sz="1250">
                <a:solidFill>
                  <a:srgbClr val="334155"/>
                </a:solidFill>
                <a:latin typeface="Calibri"/>
              </a:rPr>
              <a:t>With a 10% platform fee, just ₹34,000/month in total marketplace sales (~68 household orders of ₹500) covers the entire ₹3,400/month cloud hosting cost while paying ₹30,600 (90%) directly to farmers.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