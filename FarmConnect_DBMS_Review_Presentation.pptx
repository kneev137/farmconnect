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(~40s): Introduce FarmConnect as a BCNF PostgreSQL-powered D2C marketplace that gives farmers 90% revenue and solves four core DBMS problems: concurrent overselling, normalization anomalies, financial/audit sync, and N+1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(~45s): Highlight how every functionality maps to a concrete DBMS concept—BCNF tables, CHECK constraints, row locks (FOR UPDATE) in fn_place_order, 5 automatic triggers, 7 CALL procedures, and SQL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(~40s): Walk through the 5 modules: Accounts/Addresses, Farmers/Geography, Products/Inventory, Orders/Audit, and Reviews/Views.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(~40s): Present the concrete results: 43 queries reduced to 1 query (97.6% drop), zero overselling via FOR UPDATE locks, and partial B-Tree indexing.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(~35s): Balance the strong database guarantees (BCNF, triggers, 90% transparency, fractional precision) with honest engineering limitations and future scope (PostGIS, S3, payment webhooks).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(~35s): Emphasize the two novel features—Harvest-to-Inventory trigger pipeline with live freshness badges, and 90% revenue transparency—compared against Mandis and Quick-Commerce.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(~35s): Discuss real challenges solved: handling PostgreSQL view dependencies during column type migrations, ordering inventory creation before harvest trigger firing, and multi-tenant farm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(~30s): Conclude with the budget: ₹0 development cost using 100% open-source PostgreSQL/Django/React, ~₹3,400/month for cloud production, breaking even at just 68 orders/month.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1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  <a:p>
            <a:pPr>
              <a:defRPr sz="1200">
                <a:solidFill>
                  <a:srgbClr val="DCFCE7"/>
                </a:solidFill>
                <a:latin typeface="Calibri"/>
              </a:defRPr>
            </a:pPr>
            <a:r>
              <a:t>FarmConnect: Direct Farm-to-Table Relational Marketplace &amp; Inventory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Project Introduction (What is FarmConnect?)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578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Domain &amp; Vision: </a:t>
            </a:r>
            <a:r>
              <a:rPr sz="1200">
                <a:solidFill>
                  <a:srgbClr val="334155"/>
                </a:solidFill>
                <a:latin typeface="Calibri"/>
              </a:rPr>
              <a:t>A direct-to-consumer (D2C) agricultural marketplace connecting local farmers directly with households without middlemen.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90% Direct Revenue Split: </a:t>
            </a:r>
            <a:r>
              <a:rPr sz="1200">
                <a:solidFill>
                  <a:srgbClr val="334155"/>
                </a:solidFill>
                <a:latin typeface="Calibri"/>
              </a:rPr>
              <a:t>Guarantees 90% of every sale goes directly to the farmer (10% platform fee), calculated natively at the database layer.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Relational DBMS Core: </a:t>
            </a:r>
            <a:r>
              <a:rPr sz="1200">
                <a:solidFill>
                  <a:srgbClr val="334155"/>
                </a:solidFill>
                <a:latin typeface="Calibri"/>
              </a:rPr>
              <a:t>Engineered on PostgreSQL 16 in strict Boyce-Codd Normal Form (BCNF) with 14 normalized domain tables.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PL/pgSQL Automation: </a:t>
            </a:r>
            <a:r>
              <a:rPr sz="1200">
                <a:solidFill>
                  <a:srgbClr val="334155"/>
                </a:solidFill>
                <a:latin typeface="Calibri"/>
              </a:rPr>
              <a:t>Uses 5 Triggers, 7 Stored Procedures (CALL), 3 Stored Functions (SELECT), 2 Pre-aggregated Views, and 4 B-Tree Indexes.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Full-Stack Architecture: </a:t>
            </a:r>
            <a:r>
              <a:rPr sz="1200">
                <a:solidFill>
                  <a:srgbClr val="334155"/>
                </a:solidFill>
                <a:latin typeface="Calibri"/>
              </a:rPr>
              <a:t>Django REST Framework API + React 18 (Vite) SPA + JWT Role-Based Auth (Farmer vs. Consumer).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59552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Problem Statement (Real-World &amp; DBMS Challenges)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285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Middleman Exploitation: </a:t>
            </a:r>
            <a:r>
              <a:rPr sz="1200">
                <a:solidFill>
                  <a:srgbClr val="334155"/>
                </a:solidFill>
                <a:latin typeface="Calibri"/>
              </a:rPr>
              <a:t>Farmers receive only 25–35% of retail value in traditional mandi chains while consumers receive stale produce.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Concurrency &amp; Overselling: </a:t>
            </a:r>
            <a:r>
              <a:rPr sz="1200">
                <a:solidFill>
                  <a:srgbClr val="334155"/>
                </a:solidFill>
                <a:latin typeface="Calibri"/>
              </a:rPr>
              <a:t>Simultaneous buyers ordering fractional quantities (1.5 kg, 0.25 kg) of scarce farm stock cause race conditions without row locking.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Redundancy &amp; Update Anomalies: </a:t>
            </a:r>
            <a:r>
              <a:rPr sz="1200">
                <a:solidFill>
                  <a:srgbClr val="334155"/>
                </a:solidFill>
                <a:latin typeface="Calibri"/>
              </a:rPr>
              <a:t>Storing unnormalized farm cities/states and duplicate cart items causes data corruption and update anomalies.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Financial &amp; Audit Drift: </a:t>
            </a:r>
            <a:r>
              <a:rPr sz="1200">
                <a:solidFill>
                  <a:srgbClr val="334155"/>
                </a:solidFill>
                <a:latin typeface="Calibri"/>
              </a:rPr>
              <a:t>Application-side order total &amp; payment updates risk out-of-sync amounts and missing status change history.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N+1 Query Bottleneck: </a:t>
            </a:r>
            <a:r>
              <a:rPr sz="1200">
                <a:solidFill>
                  <a:srgbClr val="334155"/>
                </a:solidFill>
                <a:latin typeface="Calibri"/>
              </a:rPr>
              <a:t>Fetching stock, harvest freshness badges, farmer verification, and review ratings per item triggers 40+ queries per page.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394960"/>
            <a:ext cx="11365992" cy="109728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532D"/>
                </a:solidFill>
              </a:defRPr>
            </a:pPr>
            <a:r>
              <a:t>Key DBMS Objectives:   1) Strict BCNF Schema   |   2) Pessimistic Row Locking (SELECT ... FOR UPDATE)   |   3) Automated Trigger Pipelines   |   4) Single-Query Catalog 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Functionalities &amp; Associated DBMS Concepts</a:t>
            </a:r>
          </a:p>
          <a:p>
            <a:pPr>
              <a:defRPr sz="1200">
                <a:solidFill>
                  <a:srgbClr val="DCFCE7"/>
                </a:solidFill>
                <a:latin typeface="Calibri"/>
              </a:defRPr>
            </a:pPr>
            <a:r>
              <a:t>Mapping every user-facing feature directly to PostgreSQL relational &amp; procedural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11365992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91840"/>
                <a:gridCol w="4873752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Functionality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DBMS Concept Applied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PostgreSQL Object / Constraint in Project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Multi-Role Auth &amp; Saved Addresses</a:t>
                      </a:r>
                      <a:br/>
                      <a:r>
                        <a:t>(Home / Office / Other)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BCNF Normalization, FK Cascade,</a:t>
                      </a:r>
                      <a:br/>
                      <a:r>
                        <a:t>Stored Procedure (CALL)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accounts_user, accounts_address;</a:t>
                      </a:r>
                      <a:br/>
                      <a:r>
                        <a:t>CALL sp_set_default_address(user_id, addr_id)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Farm Isolation &amp; Fractional Produce</a:t>
                      </a:r>
                      <a:br/>
                      <a:r>
                        <a:t>(Supports 0.25 kg, 1.5 kg, images)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3NF/BCNF City Decomposition,</a:t>
                      </a:r>
                      <a:br/>
                      <a:r>
                        <a:t>NUMERIC(10,3), CHECK Constraints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farmers_city UNIQUE(name, state);</a:t>
                      </a:r>
                      <a:br/>
                      <a:r>
                        <a:t>chk_product_price_positive, chk_inventory_stock_non_negative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Harvest Logging &amp; Auto Stock 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AFTER INSERT Trigger + Stored Procedure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trg_harvest_stock_sync -&gt; fn_harvest_stock_sync();</a:t>
                      </a:r>
                      <a:br/>
                      <a:r>
                        <a:t>CALL sp_restock_product(product_id, qty, notes)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Atomic Checkout &amp; Stock Deduction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ACID Transaction + Row-Level Locking</a:t>
                      </a:r>
                      <a:br/>
                      <a:r>
                        <a:t>(SELECT ... FOR UPDATE)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SELECT fn_place_order(consumer_id, addr, method)</a:t>
                      </a:r>
                      <a:br/>
                      <a:r>
                        <a:t>Locks products_inventory rows before deducting stock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Order Total &amp; Payment Auto-Sync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Chained Cascading Triggers</a:t>
                      </a:r>
                      <a:br/>
                      <a:r>
                        <a:t>(AFTER INSERT/UPDATE/DELETE)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trg_calculate_order_total on orders_orderitem -&gt;</a:t>
                      </a:r>
                      <a:br/>
                      <a:r>
                        <a:t>chains into trg_sync_payment_amount on orders_order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Live Delivery &amp; Immutable Audit Log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BEFORE/AFTER UPDATE Triggers</a:t>
                      </a:r>
                      <a:br/>
                      <a:r>
                        <a:t>+ History Audit Table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trg_delivery_status_cascade + trg_order_audit_trail;</a:t>
                      </a:r>
                      <a:br/>
                      <a:r>
                        <a:t>CALL sp_update_order_status(order_id, status, notes)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Order Cancellation &amp; Stock Rollback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Compensating Transaction Function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SELECT fn_cancel_order(order_id, consumer_id)</a:t>
                      </a:r>
                      <a:br/>
                      <a:r>
                        <a:t>Restores stock &amp; sets payment to 'refunded'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Catalog Search &amp; Farmer Analytics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SQL Views, CTEs, Partial &amp; Composite</a:t>
                      </a:r>
                      <a:br/>
                      <a:r>
                        <a:t>B-Tree Indexes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vw_product_catalog, vw_farmer_order_summary,</a:t>
                      </a:r>
                      <a:br/>
                      <a:r>
                        <a:t>fn_farmer_analytics(), idx_inventory_low_stock (&lt;10)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3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System Modules &amp; Database Architecture</a:t>
            </a:r>
          </a:p>
          <a:p>
            <a:pPr>
              <a:defRPr sz="1200">
                <a:solidFill>
                  <a:srgbClr val="DCFCE7"/>
                </a:solidFill>
                <a:latin typeface="Calibri"/>
              </a:defRPr>
            </a:pPr>
            <a:r>
              <a:t>5 Core Relational Modules across 14 BCNF Tables, 5 Triggers, 7 Procedures, 3 Functions &amp; 2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365760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657600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1. Accounts &amp; Address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383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Tables: </a:t>
            </a:r>
            <a:r>
              <a:rPr sz="1200">
                <a:solidFill>
                  <a:srgbClr val="334155"/>
                </a:solidFill>
                <a:latin typeface="Calibri"/>
              </a:rPr>
              <a:t>accounts_user, accounts_consumer, accounts_address, accounts_emailotp.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Role Isolation: </a:t>
            </a:r>
            <a:r>
              <a:rPr sz="1200">
                <a:solidFill>
                  <a:srgbClr val="334155"/>
                </a:solidFill>
                <a:latin typeface="Calibri"/>
              </a:rPr>
              <a:t>OneToOne consumer &amp; farmer profiles with JWT authentication.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Multi-Address: </a:t>
            </a:r>
            <a:r>
              <a:rPr sz="1200">
                <a:solidFill>
                  <a:srgbClr val="334155"/>
                </a:solidFill>
                <a:latin typeface="Calibri"/>
              </a:rPr>
              <a:t>Home/Office/Other tags managed via sp_set_default_address &amp; sp_purge_expired_otps.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65760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3657600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2. Farmers &amp; Geography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383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Tables: </a:t>
            </a:r>
            <a:r>
              <a:rPr sz="1200">
                <a:solidFill>
                  <a:srgbClr val="334155"/>
                </a:solidFill>
                <a:latin typeface="Calibri"/>
              </a:rPr>
              <a:t>farmers_farmer, farmers_farm, farmers_city.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BCNF City Split: </a:t>
            </a:r>
            <a:r>
              <a:rPr sz="1200">
                <a:solidFill>
                  <a:srgbClr val="334155"/>
                </a:solidFill>
                <a:latin typeface="Calibri"/>
              </a:rPr>
              <a:t>Separated city &amp; state into farmers_city to remove transitive dependency.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Procedures/Fn: </a:t>
            </a:r>
            <a:r>
              <a:rPr sz="1200">
                <a:solidFill>
                  <a:srgbClr val="334155"/>
                </a:solidFill>
                <a:latin typeface="Calibri"/>
              </a:rPr>
              <a:t>sp_verify_farmer(id) and fn_farmer_analytics(id) for 90% revenue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685032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68503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3. Products, Harvest &amp;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41071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Tables: </a:t>
            </a:r>
            <a:r>
              <a:rPr sz="1200">
                <a:solidFill>
                  <a:srgbClr val="334155"/>
                </a:solidFill>
                <a:latin typeface="Calibri"/>
              </a:rPr>
              <a:t>products_category, products_product, products_inventory, products_harvestrecord.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Trigger Sync: </a:t>
            </a:r>
            <a:r>
              <a:rPr sz="1200">
                <a:solidFill>
                  <a:srgbClr val="334155"/>
                </a:solidFill>
                <a:latin typeface="Calibri"/>
              </a:rPr>
              <a:t>Inserting a harvest fires trg_harvest_stock_sync to increment stock.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Procedures: </a:t>
            </a:r>
            <a:r>
              <a:rPr sz="1200">
                <a:solidFill>
                  <a:srgbClr val="334155"/>
                </a:solidFill>
                <a:latin typeface="Calibri"/>
              </a:rPr>
              <a:t>sp_restock_product() &amp; sp_deactivate_out_of_stock().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977639"/>
            <a:ext cx="658368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3977639"/>
            <a:ext cx="6583680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4. Cart, Orders, Payments, Delivery &amp; Audit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59"/>
            <a:ext cx="63093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Tables: </a:t>
            </a:r>
            <a:r>
              <a:rPr sz="1200">
                <a:solidFill>
                  <a:srgbClr val="334155"/>
                </a:solidFill>
                <a:latin typeface="Calibri"/>
              </a:rPr>
              <a:t>orders_cart, orders_cartitem, orders_order, orders_orderitem, orders_payment, orders_delivery, orders_orderstatushistory.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Atomic Checkout &amp; Cancel: </a:t>
            </a:r>
            <a:r>
              <a:rPr sz="1200">
                <a:solidFill>
                  <a:srgbClr val="334155"/>
                </a:solidFill>
                <a:latin typeface="Calibri"/>
              </a:rPr>
              <a:t>fn_place_order() locks stock, snapshots price_at_purchase, creates payment/delivery, and empties cart; fn_cancel_order() reverses stock.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Chained Trigger Pipeline: </a:t>
            </a:r>
            <a:r>
              <a:rPr sz="1200">
                <a:solidFill>
                  <a:srgbClr val="334155"/>
                </a:solidFill>
                <a:latin typeface="Calibri"/>
              </a:rPr>
              <a:t>trg_calculate_order_total -&gt; trg_sync_payment_amount; trg_delivery_status_cascade -&gt; trg_order_audit_trail.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977639"/>
            <a:ext cx="4599432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78040" y="3977639"/>
            <a:ext cx="459943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5. Verified Reviews &amp; Catalog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480559"/>
            <a:ext cx="432511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Table: </a:t>
            </a:r>
            <a:r>
              <a:rPr sz="1200">
                <a:solidFill>
                  <a:srgbClr val="334155"/>
                </a:solidFill>
                <a:latin typeface="Calibri"/>
              </a:rPr>
              <a:t>reviews_review with UNIQUE(product_id, consumer_id).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Domain Integrity: </a:t>
            </a:r>
            <a:r>
              <a:rPr sz="1200">
                <a:solidFill>
                  <a:srgbClr val="334155"/>
                </a:solidFill>
                <a:latin typeface="Calibri"/>
              </a:rPr>
              <a:t>chk_review_rating_1_to_5 enforces valid star ratings.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Precomputed Views: </a:t>
            </a:r>
            <a:r>
              <a:rPr sz="1200">
                <a:solidFill>
                  <a:srgbClr val="334155"/>
                </a:solidFill>
                <a:latin typeface="Calibri"/>
              </a:rPr>
              <a:t>vw_product_catalog &amp; vw_farmer_order_summary join 7 tables into 1 query.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4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Results &amp; Discussions</a:t>
            </a:r>
          </a:p>
          <a:p>
            <a:pPr>
              <a:defRPr sz="1200">
                <a:solidFill>
                  <a:srgbClr val="DCFCE7"/>
                </a:solidFill>
                <a:latin typeface="Calibri"/>
              </a:defRPr>
            </a:pPr>
            <a:r>
              <a:t>Empirical query performance benchmarks, concurrency testing, and trigger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65992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3291840"/>
                <a:gridCol w="2587752"/>
              </a:tblGrid>
              <a:tr h="624839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DBMS Evaluation Metric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Before Optimization (Naive ORM)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 DBMS Optimization (PostgreSQL)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Measured Impact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Marketplace Catalog Load</a:t>
                      </a:r>
                      <a:br/>
                      <a:r>
                        <a:t>(20 Products with Stock &amp; Ratings)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43 SQL Queries</a:t>
                      </a:r>
                      <a:br/>
                      <a:r>
                        <a:t>(N+1 queries per product row)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 Single SQL Query</a:t>
                      </a:r>
                      <a:br/>
                      <a:r>
                        <a:t>(via vw_product_catalog + select_related)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97.6% Reduction in</a:t>
                      </a:r>
                      <a:br/>
                      <a:r>
                        <a:t>Database Round-Trips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Concurrent Checkout on Last</a:t>
                      </a:r>
                      <a:br/>
                      <a:r>
                        <a:t>1.500 kg of Produce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Race condition allowed negative</a:t>
                      </a:r>
                      <a:br/>
                      <a:r>
                        <a:t>stock (-1.500 kg) under parallel requests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Serialized via SELECT ... FOR UPDATE</a:t>
                      </a:r>
                      <a:br/>
                      <a:r>
                        <a:t>in fn_place_order + CHECK &gt;= 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Zero Overselling;</a:t>
                      </a:r>
                      <a:br/>
                      <a:r>
                        <a:t>100% ACID Isolation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Low-Stock Dashboard Query</a:t>
                      </a:r>
                      <a:br/>
                      <a:r>
                        <a:t>(&lt; 10 units alert)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 sequential table scan on</a:t>
                      </a:r>
                      <a:br/>
                      <a:r>
                        <a:t>products_inventory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Partial B-Tree Index Scan</a:t>
                      </a:r>
                      <a:br/>
                      <a:r>
                        <a:t>(idx_inventory_low_stock WHERE qty &lt; 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O(log k) lookup on</a:t>
                      </a:r>
                      <a:br/>
                      <a:r>
                        <a:t>scarce items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Order Total, Payment &amp; Status</a:t>
                      </a:r>
                      <a:br/>
                      <a:r>
                        <a:t>History Synchronization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3–4 manual application queries;</a:t>
                      </a:r>
                      <a:br/>
                      <a:r>
                        <a:t>risk of partial update on crash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 extra app queries; handled by</a:t>
                      </a:r>
                      <a:br/>
                      <a:r>
                        <a:t>4 chained PostgreSQL triggers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100% Financial &amp;</a:t>
                      </a:r>
                      <a:br/>
                      <a:r>
                        <a:t>Audit Consistency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Fractional Weight Accuracy</a:t>
                      </a:r>
                      <a:br/>
                      <a:r>
                        <a:t>(0.25 kg, 1.25 kg, 1.5 kg)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Integer truncation or float</a:t>
                      </a:r>
                      <a:br/>
                      <a:r>
                        <a:t>rounding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Fixed-point NUMERIC(10,3)</a:t>
                      </a:r>
                      <a:br/>
                      <a:r>
                        <a:t>across Cart, OrderItem &amp; Inventory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Exact 3-decimal</a:t>
                      </a:r>
                      <a:br/>
                      <a:r>
                        <a:t>gram-level precision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120640"/>
            <a:ext cx="11365992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5120640"/>
            <a:ext cx="1136599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Key Discussion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23559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Pushing Logic to the Database Engine: </a:t>
            </a:r>
            <a:r>
              <a:rPr sz="1200">
                <a:solidFill>
                  <a:srgbClr val="334155"/>
                </a:solidFill>
                <a:latin typeface="Calibri"/>
              </a:rPr>
              <a:t>Moving checkout locking, harvest stock increments, and order total calculation into PostgreSQL triggers/procedures eliminated race conditions and reduced API latency.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Automated Test Verification: </a:t>
            </a:r>
            <a:r>
              <a:rPr sz="1200">
                <a:solidFill>
                  <a:srgbClr val="334155"/>
                </a:solidFill>
                <a:latin typeface="Calibri"/>
              </a:rPr>
              <a:t>Verified via automated Django + PostgreSQL test suites covering BCNF constraints, trigger cascades, atomic checkout rollbacks, and procedure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5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Advantages &amp; Limitations</a:t>
            </a:r>
          </a:p>
          <a:p>
            <a:pPr>
              <a:defRPr sz="1200">
                <a:solidFill>
                  <a:srgbClr val="DCFCE7"/>
                </a:solidFill>
                <a:latin typeface="Calibri"/>
              </a:defRPr>
            </a:pPr>
            <a:r>
              <a:t>Architectural strengths of our PostgreSQL design and current system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Advantages of FarmConnect DBMS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57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Database-Level Integrity Guarantees: </a:t>
            </a:r>
            <a:r>
              <a:rPr sz="1200">
                <a:solidFill>
                  <a:srgbClr val="334155"/>
                </a:solidFill>
                <a:latin typeface="Calibri"/>
              </a:rPr>
              <a:t>CHECK constraints (price &gt; 0, stock &gt;= 0, rating 1..5) and UNIQUE constraints protect data even from raw SQL scripts or buggy app code.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Guaranteed 90% Farmer Payout Transparency: </a:t>
            </a:r>
            <a:r>
              <a:rPr sz="1200">
                <a:solidFill>
                  <a:srgbClr val="334155"/>
                </a:solidFill>
                <a:latin typeface="Calibri"/>
              </a:rPr>
              <a:t>SQL Views (vw_product_catalog, vw_farmer_order_summary) and fn_farmer_analytics compute the 90/10 split natively.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Zero Manual Stock or Total Bookkeeping: </a:t>
            </a:r>
            <a:r>
              <a:rPr sz="1200">
                <a:solidFill>
                  <a:srgbClr val="334155"/>
                </a:solidFill>
                <a:latin typeface="Calibri"/>
              </a:rPr>
              <a:t>Logging a harvest or editing order items automatically updates inventory, order totals, payment amounts, and audit history via triggers.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High-Precision Fractional Ordering: </a:t>
            </a:r>
            <a:r>
              <a:rPr sz="1200">
                <a:solidFill>
                  <a:srgbClr val="334155"/>
                </a:solidFill>
                <a:latin typeface="Calibri"/>
              </a:rPr>
              <a:t>Supports real-world agricultural weights (e.g., 0.25 kg, 1.5 kg) using exact NUMERIC(10,3) arithmetic.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Swiggy/Blinkit-Style Multi-Address UX: </a:t>
            </a:r>
            <a:r>
              <a:rPr sz="1200">
                <a:solidFill>
                  <a:srgbClr val="334155"/>
                </a:solidFill>
                <a:latin typeface="Calibri"/>
              </a:rPr>
              <a:t>Consumers store multiple tagged addresses (Home, Office, Other) with atomic default switching via sp_set_default_address.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59552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Current Limitations &amp; 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2852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Pessimistic Lock Contention at Extreme Scale: </a:t>
            </a:r>
            <a:r>
              <a:rPr sz="1200">
                <a:solidFill>
                  <a:srgbClr val="334155"/>
                </a:solidFill>
                <a:latin typeface="Calibri"/>
              </a:rPr>
              <a:t>Row-level FOR UPDATE locks serialize buyers on the same hot product; flash sales with 10,000+ concurrent users would benefit from Redis queue buffering.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Local Filesystem Media Storage: </a:t>
            </a:r>
            <a:r>
              <a:rPr sz="1200">
                <a:solidFill>
                  <a:srgbClr val="334155"/>
                </a:solidFill>
                <a:latin typeface="Calibri"/>
              </a:rPr>
              <a:t>Uploaded produce and farm images are stored in local /media/ storage rather than a global CDN / AWS S3 bucket.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Simulated Payment Gateway: </a:t>
            </a:r>
            <a:r>
              <a:rPr sz="1200">
                <a:solidFill>
                  <a:srgbClr val="334155"/>
                </a:solidFill>
                <a:latin typeface="Calibri"/>
              </a:rPr>
              <a:t>Payment records (COD, UPI, Card) are tracked transactionally in orders_payment without live bank webhook settlement.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Manual Delivery Status Updates: </a:t>
            </a:r>
            <a:r>
              <a:rPr sz="1200">
                <a:solidFill>
                  <a:srgbClr val="334155"/>
                </a:solidFill>
                <a:latin typeface="Calibri"/>
              </a:rPr>
              <a:t>Delivery progression (Preparing -&gt; Out for Delivery -&gt; Delivered) is updated by the farmer rather than live GPS courier IoT tracking.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Future Enhancement: </a:t>
            </a:r>
            <a:r>
              <a:rPr sz="1200">
                <a:solidFill>
                  <a:srgbClr val="334155"/>
                </a:solidFill>
                <a:latin typeface="Calibri"/>
              </a:rPr>
              <a:t>Add PostGIS spatial indexing for radius-based hyper-local farm discovery (e.g., farms within 25 km).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Project Highlights &amp; Impact Study (Novelty &amp; Comparison)</a:t>
            </a:r>
          </a:p>
          <a:p>
            <a:pPr>
              <a:defRPr sz="1200">
                <a:solidFill>
                  <a:srgbClr val="DCFCE7"/>
                </a:solidFill>
                <a:latin typeface="Calibri"/>
              </a:defRPr>
            </a:pPr>
            <a:r>
              <a:t>How FarmConnect innovates over traditional Mandi supply chains and Quick-Commerce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13659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1136599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Core Novelty of FarmConnect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91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Harvest-Linked Inventory &amp; Live Freshness Engine: </a:t>
            </a:r>
            <a:r>
              <a:rPr sz="1200">
                <a:solidFill>
                  <a:srgbClr val="334155"/>
                </a:solidFill>
                <a:latin typeface="Calibri"/>
              </a:rPr>
              <a:t>Unlike generic e-commerce where stock is just a static counter, FarmConnect links stock to dated harvest records (products_harvestrecord -&gt; trg_harvest_stock_sync) and dynamically computes 'Harvested today / X days ago' in SQL.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Built-In 90/10 Fair-Trade Split Accounting: </a:t>
            </a:r>
            <a:r>
              <a:rPr sz="1200">
                <a:solidFill>
                  <a:srgbClr val="334155"/>
                </a:solidFill>
                <a:latin typeface="Calibri"/>
              </a:rPr>
              <a:t>Exposes exact farmer earnings vs. platform fee on every product card and farmer order row directly from PostgreSQL views.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3246120"/>
          <a:ext cx="1136599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2926080"/>
                <a:gridCol w="3136392"/>
              </a:tblGrid>
              <a:tr h="5410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Parameter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Mandi System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Quick-Commerce (Blinkit / Zepto)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FarmConnect (Our System)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Farmer Revenue Share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25% – 35% (4–5 Middlemen)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40% – 55% (Dark-store margins)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90% Direct to Farmer (10% fee)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Origin &amp; Farm Traceability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 (Mixed wholesale lots)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Brand / Warehouse level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Exact Farm, Farmer &amp; City (BCNF)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Harvest Freshness Visibility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Unknown harvest 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Packaging date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Live SQL-computed Days Since Harvest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Fractional Quantity Support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Fixed wholesale sacks (25–50 kg)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Pre-packed pouches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Custom Typable Decimals (0.25 kg, 1.5 kg)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Database Integrity &amp; Audit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Paper / unnormalized ledgers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Opaque proprietary silos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BCNF + Triggers, Procedures &amp; Audit 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7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Technical Challenges &amp; Key Learnings</a:t>
            </a:r>
          </a:p>
          <a:p>
            <a:pPr>
              <a:defRPr sz="1200">
                <a:solidFill>
                  <a:srgbClr val="DCFCE7"/>
                </a:solidFill>
                <a:latin typeface="Calibri"/>
              </a:defRPr>
            </a:pPr>
            <a:r>
              <a:t>Real database engineering obstacles encountered and how we resolved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Technical Challenges Faced &amp;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57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1. Altering Columns Referenced by Active SQL Views: </a:t>
            </a:r>
            <a:r>
              <a:rPr sz="1200">
                <a:solidFill>
                  <a:srgbClr val="334155"/>
                </a:solidFill>
                <a:latin typeface="Calibri"/>
              </a:rPr>
              <a:t>Migrating quantity columns from INTEGER to NUMERIC(10,3) was blocked by PostgreSQL because vw_product_catalog and vw_farmer_order_summary depended on them. Solution: Built an atomic migration that drops dependent views, alters types, and rebuilds views.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2. Trigger &amp; Procedure Execution Ordering: </a:t>
            </a:r>
            <a:r>
              <a:rPr sz="1200">
                <a:solidFill>
                  <a:srgbClr val="334155"/>
                </a:solidFill>
                <a:latin typeface="Calibri"/>
              </a:rPr>
              <a:t>In sp_restock_product, inserting a harvest record before an inventory row existed caused trg_harvest_stock_sync to update 0 rows. Solution: Ensured products_inventory row creation (ON CONFLICT DO NOTHING) happens prior to harvest insertion.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3. Avoiding Duplicate Audit Logs: </a:t>
            </a:r>
            <a:r>
              <a:rPr sz="1200">
                <a:solidFill>
                  <a:srgbClr val="334155"/>
                </a:solidFill>
                <a:latin typeface="Calibri"/>
              </a:rPr>
              <a:t>Calling sp_update_order_status alongside trg_order_audit_trail risked double history entries. Solution: Added an EXISTS timestamp guard inside the procedure.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4. Multi-Tenant Farm Isolation: </a:t>
            </a:r>
            <a:r>
              <a:rPr sz="1200">
                <a:solidFill>
                  <a:srgbClr val="334155"/>
                </a:solidFill>
                <a:latin typeface="Calibri"/>
              </a:rPr>
              <a:t>Prevented farmers from seeing or listing products under other farmers' farms by scoping FarmViewSet and auto-creating a default Farm on signup.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59552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Key DBMS &amp; Engineering Learnings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2852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Boyce-Codd Normal Form (BCNF) in Practice: </a:t>
            </a:r>
            <a:r>
              <a:rPr sz="1200">
                <a:solidFill>
                  <a:srgbClr val="334155"/>
                </a:solidFill>
                <a:latin typeface="Calibri"/>
              </a:rPr>
              <a:t>Learned how decomposing composite/transitive attributes (like city/state and category) eliminates update and deletion anomalies.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Triggers vs. Stored Procedures vs. Functions: </a:t>
            </a:r>
            <a:r>
              <a:rPr sz="1200">
                <a:solidFill>
                  <a:srgbClr val="334155"/>
                </a:solidFill>
                <a:latin typeface="Calibri"/>
              </a:rPr>
              <a:t>Mastered when to use automatic triggers (integrity &amp; audit), SELECT functions (atomic checkout &amp; analytics), and CALL procedures (admin &amp; housekeeping tasks).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Concurrency Control with Row Locks: </a:t>
            </a:r>
            <a:r>
              <a:rPr sz="1200">
                <a:solidFill>
                  <a:srgbClr val="334155"/>
                </a:solidFill>
                <a:latin typeface="Calibri"/>
              </a:rPr>
              <a:t>Understood how SELECT ... FOR UPDATE prevents lost updates and race-condition overselling under concurrent transactions.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Bridging Django ORM with Native PostgreSQL: </a:t>
            </a:r>
            <a:r>
              <a:rPr sz="1200">
                <a:solidFill>
                  <a:srgbClr val="334155"/>
                </a:solidFill>
                <a:latin typeface="Calibri"/>
              </a:rPr>
              <a:t>Learned how to combine Django migrations with custom SQL scripts (apply_db_procedures) and database views to eliminate N+1 queries.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8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Project Budgeting &amp; Financial Viability</a:t>
            </a:r>
          </a:p>
          <a:p>
            <a:pPr>
              <a:defRPr sz="1200">
                <a:solidFill>
                  <a:srgbClr val="DCFCE7"/>
                </a:solidFill>
                <a:latin typeface="Calibri"/>
              </a:defRPr>
            </a:pPr>
            <a:r>
              <a:t>Zero-cost open-source prototype development &amp; cloud production cost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65992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2194560"/>
                <a:gridCol w="2587752"/>
              </a:tblGrid>
              <a:tr h="5421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Component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 / Cloud Provider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Prototype Cost (Current)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Production Cost (1,000 Users)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Relational Database (DBMS)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PostgreSQL 16 (Local) -&gt; Supabase Pro / Render PG</a:t>
                      </a:r>
                      <a:br/>
                      <a:r>
                        <a:t>(Automated Daily Backups &amp; PITR)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₹1,600 / month</a:t>
                      </a:r>
                      <a:br/>
                      <a:r>
                        <a:t>(₹19,200 / year)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Backend Application Server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Python + Django REST Framework -&gt;</a:t>
                      </a:r>
                      <a:br/>
                      <a:r>
                        <a:t>Render / Railway (1 vCPU, 2 GB RAM, Gunicorn)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₹1,200 / month</a:t>
                      </a:r>
                      <a:br/>
                      <a:r>
                        <a:t>(₹14,400 / year)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Frontend Hosting &amp; Media CDN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React + Vite -&gt; Vercel / Cloudflare Pages +</a:t>
                      </a:r>
                      <a:br/>
                      <a:r>
                        <a:t>AWS S3 / Cloudinary (Produce Images)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(Free Tier)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₹500 / month</a:t>
                      </a:r>
                      <a:br/>
                      <a:r>
                        <a:t>(₹6,000 / year)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Domain Name &amp; SSL Security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Custom .in Domain + Let's Encrypt HTTPS/TLS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(Localhost)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₹100 / month</a:t>
                      </a:r>
                      <a:br/>
                      <a:r>
                        <a:t>(₹1,200 / year)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Development &amp; DB Tooling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VS Code, Git/GitHub, pgAdmin 4, Postman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TOTAL ESTIMATED BUDGET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Full-Stack High-Availability Deployment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(100% Free)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₹3,400 / month</a:t>
                      </a:r>
                      <a:br/>
                      <a:r>
                        <a:t>(₹40,800 / year)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166360"/>
            <a:ext cx="11365992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5166360"/>
            <a:ext cx="11365992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Economic Break-Even &amp; Self-Sustainability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Zero Licensing Overhead: </a:t>
            </a:r>
            <a:r>
              <a:rPr sz="1200">
                <a:solidFill>
                  <a:srgbClr val="334155"/>
                </a:solidFill>
                <a:latin typeface="Calibri"/>
              </a:rPr>
              <a:t>Built 100% on open-source software (PostgreSQL, Python, Django, React) with zero proprietary database licensing costs.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• Break-Even at Just 68 Orders/Month: </a:t>
            </a:r>
            <a:r>
              <a:rPr sz="1200">
                <a:solidFill>
                  <a:srgbClr val="334155"/>
                </a:solidFill>
                <a:latin typeface="Calibri"/>
              </a:rPr>
              <a:t>With a 10% platform fee, generating ₹34,000/month in gross produce sales (~68 household orders of ₹500 each) completely covers the ₹3,400/month cloud infrastructure cost while paying ₹30,600 (90%) directly to local farmers.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